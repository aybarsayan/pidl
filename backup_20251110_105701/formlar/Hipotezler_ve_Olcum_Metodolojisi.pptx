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Araştırma Hipotezleri ve Ölçüm Metodolojisi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İnsan-AI İşbirliği Modellerinde Yetkinlik Transferi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36576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0F2FE"/>
                </a:solidFill>
              </a:rPr>
              <a:t>5 Ana Hipotez • 15 Alt Hipotez • 4 Ölçüm Aracı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</a:rPr>
              <a:t>Araştırma Hipotezlerine Genel Bakış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</a:rPr>
              <a:t>5 Ana Hipotez: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955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• H1: Yetkinlik Etkisi - Dreyfus modeli ve performans ilişkisi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• H2: Dual-Mode Effectiveness - Complementary vs Similarity mode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• H3: Expertise Dichotomy - Technical-Pedagogical denge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• H4: Model Performance - 6-layer framework etkinliği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• H5: Multi-LLM Comparison - Farklı LLM'lerin karşılaştırması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Ölçüm Araçları: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474720"/>
            <a:ext cx="7955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• CAQ: Yetkinlik Değerlendirme Anketi (Dreyfus 5-seviye) → H1, H3, H4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• NASA-TLX: Bilişsel Yük Ölçeği (6 boyut) → H2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• USQ: Kullanıcı Memnuniyet Anketi (5 bölüm) → H2, H5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</a:rPr>
              <a:t>• Yarı-yapılandırılmış Görüşme → Tüm hipotezler için triangulation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H1: Yetkinlik Etkisi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A5E9"/>
                </a:solidFill>
              </a:rPr>
              <a:t>Alt Hipotezler: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41148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7"/>
                </a:solidFill>
              </a:rPr>
              <a:t>H1a: Kullanıcı yetkinlik seviyesi ile AI-assisted code performance arasında logaritmik ilişki vardır (R² &gt; 0.65)</a:t>
            </a:r>
            <a:endParaRPr lang="en-US" sz="13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endParaRPr lang="en-US" sz="13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7"/>
                </a:solidFill>
              </a:rPr>
              <a:t>H1b: Technical expertise, code quality metrikleri üzerinde büyük etki gösterir (Cohen's d &gt; 0.8)</a:t>
            </a:r>
            <a:endParaRPr lang="en-US" sz="13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endParaRPr lang="en-US" sz="13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7"/>
                </a:solidFill>
              </a:rPr>
              <a:t>H1c: Pedagogical expertise, learning ease ve instructiveness metrikleri üzerinde büyük etki gösterir (Cohen's d &gt; 0.8)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54880" y="9144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</a:rPr>
              <a:t>Ölçüm Yöntemi: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3931920" cy="118872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146304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78350F"/>
                </a:solidFill>
              </a:rPr>
              <a:t>CAQ Anketi: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78350F"/>
                </a:solidFill>
              </a:rPr>
              <a:t>• Dreyfus yetkinlik seviyesi (1-5)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78350F"/>
                </a:solidFill>
              </a:rPr>
              <a:t>• Technical (T) ve Educational (E) skorları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78350F"/>
                </a:solidFill>
              </a:rPr>
              <a:t>• Çok boyutlu yetkinlik matrisi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2651760"/>
            <a:ext cx="3931920" cy="73152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27432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40AF"/>
                </a:solidFill>
              </a:rPr>
              <a:t>Performans Metrikleri: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40AF"/>
                </a:solidFill>
              </a:rPr>
              <a:t>• Code quality, Learning ease, Instructiveness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3474720"/>
            <a:ext cx="3931920" cy="64008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3566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47857"/>
                </a:solidFill>
              </a:rPr>
              <a:t>Analiz: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47857"/>
                </a:solidFill>
              </a:rPr>
              <a:t>Regresyon analizi (logaritmik), Cohen's d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H2: Dual-Mode Effectiveness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A5E9"/>
                </a:solidFill>
              </a:rPr>
              <a:t>Alt Hipotezler: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41148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7"/>
                </a:solidFill>
              </a:rPr>
              <a:t>H2a: Learning goal için (g&gt;0.7), complementary-mode similarity-mode'dan anlamlı derecede daha etkilidir (p &lt; 0.05)</a:t>
            </a:r>
            <a:endParaRPr lang="en-US" sz="13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endParaRPr lang="en-US" sz="13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7"/>
                </a:solidFill>
              </a:rPr>
              <a:t>H2b: Production goal için (g&lt;0.3), similarity-mode complementary-mode'dan anlamlı derecede daha etkilidir (p &lt; 0.05)</a:t>
            </a:r>
            <a:endParaRPr lang="en-US" sz="13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endParaRPr lang="en-US" sz="13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7"/>
                </a:solidFill>
              </a:rPr>
              <a:t>H2c: Adaptive hybrid mode, her iki single-mode'dan üstündür (F(2,147) &gt; Fcrit, p &lt; 0.01, η² &gt; 0.14)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54880" y="9144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</a:rPr>
              <a:t>Ölçüm Yöntemi: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3931920" cy="100584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146304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78350F"/>
                </a:solidFill>
              </a:rPr>
              <a:t>USQ + NASA-TLX: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78350F"/>
                </a:solidFill>
              </a:rPr>
              <a:t>• Goal type (learning vs production)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78350F"/>
                </a:solidFill>
              </a:rPr>
              <a:t>• Mode preference değerlendirmesi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78350F"/>
                </a:solidFill>
              </a:rPr>
              <a:t>• Mental demand, effort, frustration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2468880"/>
            <a:ext cx="3931920" cy="82296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25603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47857"/>
                </a:solidFill>
              </a:rPr>
              <a:t>Performans Metrikleri: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47857"/>
                </a:solidFill>
              </a:rPr>
              <a:t>• Task completion rate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47857"/>
                </a:solidFill>
              </a:rPr>
              <a:t>• Quality scores, Time metrics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3383280"/>
            <a:ext cx="3931920" cy="64008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3474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40AF"/>
                </a:solidFill>
              </a:rPr>
              <a:t>Analiz: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40AF"/>
                </a:solidFill>
              </a:rPr>
              <a:t>Paired t-test, ANOVA, Effect size (η²)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H3: Expertise Dichotomy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</a:rPr>
              <a:t>Alt Hipotezler: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41148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7"/>
                </a:solidFill>
              </a:rPr>
              <a:t>H3a: Pedagogical ve technical expertise arasında negatif korelasyon vardır (r &lt; -0.5, p &lt; 0.01)</a:t>
            </a:r>
            <a:endParaRPr lang="en-US" sz="13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endParaRPr lang="en-US" sz="13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7"/>
                </a:solidFill>
              </a:rPr>
              <a:t>H3b: Optimal blockchain education system, 60% technical + 40% pedagogical ağırlıklandırması ile elde edilir</a:t>
            </a:r>
            <a:endParaRPr lang="en-US" sz="13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endParaRPr lang="en-US" sz="13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7"/>
                </a:solidFill>
              </a:rPr>
              <a:t>H3c: Pure technical (100%-0%) veya pure pedagogical (0%-100%) yaklaşımlar, hybrid (60%-40%) yaklaşımdan en az %35 daha düşük performans gösterir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54880" y="9144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</a:rPr>
              <a:t>Ölçüm Yöntemi: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3931920" cy="100584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146304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78350F"/>
                </a:solidFill>
              </a:rPr>
              <a:t>CAQ - İkili Skoring: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78350F"/>
                </a:solidFill>
              </a:rPr>
              <a:t>• Technical score (sT) ayrı hesaplama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78350F"/>
                </a:solidFill>
              </a:rPr>
              <a:t>• Educational score (sE) ayrı hesaplama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78350F"/>
                </a:solidFill>
              </a:rPr>
              <a:t>• Composite = 0.6 × T + 0.4 × 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2468880"/>
            <a:ext cx="3931920" cy="914400"/>
          </a:xfrm>
          <a:prstGeom prst="rect">
            <a:avLst/>
          </a:prstGeom>
          <a:solidFill>
            <a:srgbClr val="E0E7FF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256032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338CA"/>
                </a:solidFill>
              </a:rPr>
              <a:t>Görüşme: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338CA"/>
                </a:solidFill>
              </a:rPr>
              <a:t>• Expertise balance algısı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338CA"/>
                </a:solidFill>
              </a:rPr>
              <a:t>• Task approach tercihleri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338CA"/>
                </a:solidFill>
              </a:rPr>
              <a:t>• Learning vs Production eğilimleri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3474720"/>
            <a:ext cx="3931920" cy="64008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3566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40AF"/>
                </a:solidFill>
              </a:rPr>
              <a:t>Analiz: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40AF"/>
                </a:solidFill>
              </a:rPr>
              <a:t>Pearson korelasyonu, Karşılaştırmalı analiz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H4: Model Performance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</a:rPr>
              <a:t>Alt Hipotezler: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41148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7"/>
                </a:solidFill>
              </a:rPr>
              <a:t>H4a: 6-layer mathematical framework, baseline (random selection) yöntemine göre %40+ accuracy artışı sağlar</a:t>
            </a:r>
            <a:endParaRPr lang="en-US" sz="13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endParaRPr lang="en-US" sz="13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7"/>
                </a:solidFill>
              </a:rPr>
              <a:t>H4b: Recommendation score ile actual performance arasında güçlü pozitif korelasyon vardır (r &gt; 0.75, p &lt; 0.001)</a:t>
            </a:r>
            <a:endParaRPr lang="en-US" sz="13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endParaRPr lang="en-US" sz="13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7"/>
                </a:solidFill>
              </a:rPr>
              <a:t>H4c: Model, k-fold cross-validation'da tutarlı performans gösterir (σ &lt; 0.05)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54880" y="9144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</a:rPr>
              <a:t>Ölçüm Yöntemi: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3931920" cy="91440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146304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78350F"/>
                </a:solidFill>
              </a:rPr>
              <a:t>Sistem Metrikleri: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78350F"/>
                </a:solidFill>
              </a:rPr>
              <a:t>• Recommendation accuracy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78350F"/>
                </a:solidFill>
              </a:rPr>
              <a:t>• Precision, Recall, F1-score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78350F"/>
                </a:solidFill>
              </a:rPr>
              <a:t>• Confusion matrix analizi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2377440"/>
            <a:ext cx="3931920" cy="82296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24688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40AF"/>
                </a:solidFill>
              </a:rPr>
              <a:t>Performans Gap: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40AF"/>
                </a:solidFill>
              </a:rPr>
              <a:t>• Actual vs Predicted karşılaştırması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40AF"/>
                </a:solidFill>
              </a:rPr>
              <a:t>• Error rate analizi, ROC-AUC curve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3291840"/>
            <a:ext cx="3931920" cy="82296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33832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47857"/>
                </a:solidFill>
              </a:rPr>
              <a:t>Validasyon: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47857"/>
                </a:solidFill>
              </a:rPr>
              <a:t>• CAQ → Model → Outcome validation flow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47857"/>
                </a:solidFill>
              </a:rPr>
              <a:t>• Cross-validation metrics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H5: Multi-LLM Comparison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5CF6"/>
                </a:solidFill>
              </a:rPr>
              <a:t>Alt Hipotezler: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41148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7"/>
                </a:solidFill>
              </a:rPr>
              <a:t>H5a: Farklı LLM'ler, aynı persona için benzer kod kalitesi üretir (ANOVA p &gt; 0.05 - no significant difference)</a:t>
            </a:r>
            <a:endParaRPr lang="en-US" sz="13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endParaRPr lang="en-US" sz="13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7"/>
                </a:solidFill>
              </a:rPr>
              <a:t>H5b: Model-persona interaction effect vardır (bazı modeller bazı persona'ları daha iyi yansıtır): F_interaction(Model × Persona) &gt; Fcrit, p &lt; 0.05</a:t>
            </a:r>
            <a:endParaRPr lang="en-US" sz="13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endParaRPr lang="en-US" sz="13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7"/>
                </a:solidFill>
              </a:rPr>
              <a:t>H5c: Cost-performance trade-off, logarithmic diminishing returns gösterir: Performance = a + b·ln(Cost+1), b &gt; 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54880" y="9144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</a:rPr>
              <a:t>Ölçüm Yöntemi: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3931920" cy="86868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14630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78350F"/>
                </a:solidFill>
              </a:rPr>
              <a:t>Performans: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78350F"/>
                </a:solidFill>
              </a:rPr>
              <a:t>• Code quality per LLM × Persona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78350F"/>
                </a:solidFill>
              </a:rPr>
              <a:t>• Multi-dimensional comparison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78350F"/>
                </a:solidFill>
              </a:rPr>
              <a:t>• Quality consistency metrics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2331720"/>
            <a:ext cx="3931920" cy="822960"/>
          </a:xfrm>
          <a:prstGeom prst="rect">
            <a:avLst/>
          </a:prstGeom>
          <a:solidFill>
            <a:srgbClr val="E0E7FF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24231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338CA"/>
                </a:solidFill>
              </a:rPr>
              <a:t>USQ + Görüşme: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338CA"/>
                </a:solidFill>
              </a:rPr>
              <a:t>• User preference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338CA"/>
                </a:solidFill>
              </a:rPr>
              <a:t>• Perceived quality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338CA"/>
                </a:solidFill>
              </a:rPr>
              <a:t>• Persona authenticity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3246120"/>
            <a:ext cx="3931920" cy="82296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33375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40AF"/>
                </a:solidFill>
              </a:rPr>
              <a:t>Analiz: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40AF"/>
                </a:solidFill>
              </a:rPr>
              <a:t>• Two-way ANOVA (LLM × Persona)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40AF"/>
                </a:solidFill>
              </a:rPr>
              <a:t>• Interaction effects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40AF"/>
                </a:solidFill>
              </a:rPr>
              <a:t>• Cost-benefit analysis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</a:rPr>
              <a:t>Ölçüm Araçları: Detaylı Yapı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114800" cy="1371600"/>
          </a:xfrm>
          <a:prstGeom prst="rect">
            <a:avLst/>
          </a:prstGeom>
          <a:solidFill>
            <a:srgbClr val="EFF6FF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</a:rPr>
              <a:t>CAQ - Yetkinlik Anketi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• Bölüm A: Demografik bilgiler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• Bölüm B: Technical expertise (20 soru)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• Bölüm C: Educational expertise (20 soru)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• Bölüm D: Dreyfus seviye self-assessment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</a:rPr>
              <a:t>→ H1, H3, H4 için kritik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931920" cy="137160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0972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2400E"/>
                </a:solidFill>
              </a:rPr>
              <a:t>NASA-TLX - Bilişsel Yük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37760" y="146304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78350F"/>
                </a:solidFill>
              </a:rPr>
              <a:t>• Mental Demand (zihinsel talep)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78350F"/>
                </a:solidFill>
              </a:rPr>
              <a:t>• Physical Demand (fiziksel talep)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78350F"/>
                </a:solidFill>
              </a:rPr>
              <a:t>• Temporal Demand (zamansal)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78350F"/>
                </a:solidFill>
              </a:rPr>
              <a:t>• Performance (başarı algısı)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78350F"/>
                </a:solidFill>
              </a:rPr>
              <a:t>• Effort (çaba)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78350F"/>
                </a:solidFill>
              </a:rPr>
              <a:t>• Frustration (hayal kırıklığı)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78350F"/>
                </a:solidFill>
              </a:rPr>
              <a:t>→ H2 için kritik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4114800" cy="1463040"/>
          </a:xfrm>
          <a:prstGeom prst="rect">
            <a:avLst/>
          </a:prstGeom>
          <a:solidFill>
            <a:srgbClr val="D1FAE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517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F46"/>
                </a:solidFill>
              </a:rPr>
              <a:t>USQ - Memnuniyet Anketi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01752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47857"/>
                </a:solidFill>
              </a:rPr>
              <a:t>• Bölüm A: Genel memnuniyet (5 soru)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47857"/>
                </a:solidFill>
              </a:rPr>
              <a:t>• Bölüm B: AI persona etkileşimi (8 soru)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47857"/>
                </a:solidFill>
              </a:rPr>
              <a:t>• Bölüm C: Öğrenme deneyimi (7 soru)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47857"/>
                </a:solidFill>
              </a:rPr>
              <a:t>• Bölüm D: Platform kullanılabilirlik (6 soru)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47857"/>
                </a:solidFill>
              </a:rPr>
              <a:t>• Bölüm E: Karşılaştırmalı (mode/LLM)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47857"/>
                </a:solidFill>
              </a:rPr>
              <a:t>→ H2, H5 için kritik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2560320"/>
            <a:ext cx="3931920" cy="1463040"/>
          </a:xfrm>
          <a:prstGeom prst="rect">
            <a:avLst/>
          </a:prstGeom>
          <a:solidFill>
            <a:srgbClr val="E0E7F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26517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21B6"/>
                </a:solidFill>
              </a:rPr>
              <a:t>Görüşme - Nitel Veri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37760" y="30175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338CA"/>
                </a:solidFill>
              </a:rPr>
              <a:t>• Bölüm 1: Genel deneyim (5 soru)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338CA"/>
                </a:solidFill>
              </a:rPr>
              <a:t>• Bölüm 2: AI persona değerlendirme (8 soru)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338CA"/>
                </a:solidFill>
              </a:rPr>
              <a:t>• Bölüm 3: Yetkinlik ve öğrenme (6 soru)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338CA"/>
                </a:solidFill>
              </a:rPr>
              <a:t>• Bölüm 4: Mode preference (7 soru)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338CA"/>
                </a:solidFill>
              </a:rPr>
              <a:t>• Bölüm 5: LLM karşılaştırma (4 soru)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338CA"/>
                </a:solidFill>
              </a:rPr>
              <a:t>→ Tüm hipotezler için triangulation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</a:rPr>
              <a:t>Veri Toplama ve Analiz Akışı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1188720"/>
            <a:ext cx="1645920" cy="640080"/>
          </a:xfrm>
          <a:prstGeom prst="roundRect">
            <a:avLst/>
          </a:prstGeom>
          <a:solidFill>
            <a:srgbClr val="1E3A8A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2801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CAQ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(Pre-Test)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0" y="1417320"/>
            <a:ext cx="548640" cy="274320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6" name="Shape 4"/>
          <p:cNvSpPr/>
          <p:nvPr/>
        </p:nvSpPr>
        <p:spPr>
          <a:xfrm>
            <a:off x="3474720" y="1188720"/>
            <a:ext cx="1828800" cy="640080"/>
          </a:xfrm>
          <a:prstGeom prst="roundRect">
            <a:avLst/>
          </a:prstGeom>
          <a:solidFill>
            <a:srgbClr val="0EA5E9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0" y="1280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Görevler +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NASA-TLX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0" y="1417320"/>
            <a:ext cx="548640" cy="274320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0" y="1188720"/>
            <a:ext cx="1645920" cy="640080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0" y="12801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USQ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(Post-Test)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206240" y="2011680"/>
            <a:ext cx="365760" cy="548640"/>
          </a:xfrm>
          <a:prstGeom prst="downArrow">
            <a:avLst/>
          </a:prstGeom>
          <a:solidFill>
            <a:srgbClr val="6B7280"/>
          </a:solidFill>
          <a:ln/>
        </p:spPr>
      </p:sp>
      <p:sp>
        <p:nvSpPr>
          <p:cNvPr id="12" name="Shape 10"/>
          <p:cNvSpPr/>
          <p:nvPr/>
        </p:nvSpPr>
        <p:spPr>
          <a:xfrm>
            <a:off x="3200400" y="2743200"/>
            <a:ext cx="2743200" cy="640080"/>
          </a:xfrm>
          <a:prstGeom prst="roundRect">
            <a:avLst/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2834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Yarı-yapılandırılmış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Görüşme (Seçilmiş)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3840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N = 150 katılımcı  |  5 expertise levels  |  2 domains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Özet ve Beklenen Katkılar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8404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5087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8A"/>
                </a:solidFill>
              </a:rPr>
              <a:t>Metodolojik Güç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• Çoklu ölçüm aracı (triangulation)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• Nicel + Nitel veri entegrasyonu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• 15 farklı hipotez testi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• Sistematik veri toplama akışı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• 5 ana araştırma kategorisi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846320" y="1371600"/>
            <a:ext cx="38404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0" y="15087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8A"/>
                </a:solidFill>
              </a:rPr>
              <a:t>Beklenen Bulgular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0" y="192024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• Yetkinlik-performans ilişkisi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• Optimal AI persona matching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• Dual-mode effectiveness kanıtı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• 60-40 expertise blend doğrulaması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• Multi-LLM karşılaştırma sonuçları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14400" y="3657600"/>
            <a:ext cx="73152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74904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8A"/>
                </a:solidFill>
              </a:rPr>
              <a:t>Araştırma Etkisi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406908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Bu çalışma, AI-assisted education ve adaptive learning systems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alanlarında yeni bir metodolojik çerçeve sunmaktadır.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4663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N=150 katılımcı  |  5 expertise levels  |  2 domains  |  4 measurement tools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Hipotezler ve Ölçüm Metodolojisi</dc:title>
  <dc:subject>PptxGenJS Presentation</dc:subject>
  <dc:creator>Doktora Tezi Araştırması</dc:creator>
  <cp:lastModifiedBy>Doktora Tezi Araştırması</cp:lastModifiedBy>
  <cp:revision>1</cp:revision>
  <dcterms:created xsi:type="dcterms:W3CDTF">2025-11-07T07:58:13Z</dcterms:created>
  <dcterms:modified xsi:type="dcterms:W3CDTF">2025-11-07T07:58:13Z</dcterms:modified>
</cp:coreProperties>
</file>